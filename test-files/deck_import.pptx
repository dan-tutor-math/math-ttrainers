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Петю про формулу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Квадратные уравнения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Урок 5 · 8 класс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урока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Повторим формулу дискриминанта</a:t>
            </a:r>
          </a:p>
          <a:p>
            <a:pPr lvl="1"/>
            <a:r>
              <a:t>Решим примеры</a:t>
            </a:r>
          </a:p>
          <a:p>
            <a:r>
              <a:rPr b="1">
                <a:solidFill>
                  <a:srgbClr val="C00000"/>
                </a:solidFill>
              </a:rPr>
              <a:t>Важно: </a:t>
            </a:r>
            <a:r>
              <a:rPr i="1"/>
              <a:t>D = b² − 4ac</a:t>
            </a:r>
          </a:p>
          <a:p>
            <a:pPr/>
            <a:r>
              <a:t>Домашнее задание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Прямоугольник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457200"/>
            <a:ext cx="2743200" cy="137160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Скруглённый</a:t>
            </a:r>
          </a:p>
        </p:txBody>
      </p:sp>
      <p:sp>
        <p:nvSpPr>
          <p:cNvPr id="4" name="Oval 3"/>
          <p:cNvSpPr/>
          <p:nvPr/>
        </p:nvSpPr>
        <p:spPr>
          <a:xfrm>
            <a:off x="6858000" y="457200"/>
            <a:ext cx="1828800" cy="18288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 rot="1200000">
            <a:off x="9144000" y="457200"/>
            <a:ext cx="2286000" cy="22860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457200" y="2743200"/>
            <a:ext cx="2743200" cy="10972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Далее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4114800" y="2743200"/>
            <a:ext cx="2286000" cy="1188720"/>
          </a:xfrm>
          <a:prstGeom prst="wedge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Выноска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0" y="3200400"/>
            <a:ext cx="2743200" cy="13716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914400" y="4572000"/>
            <a:ext cx="2926080" cy="1371600"/>
            <a:chOff x="914400" y="4572000"/>
            <a:chExt cx="2926080" cy="1371600"/>
          </a:xfrm>
        </p:grpSpPr>
        <p:sp>
          <p:nvSpPr>
            <p:cNvPr id="10" name="Isosceles Triangle 9"/>
            <p:cNvSpPr/>
            <p:nvPr/>
          </p:nvSpPr>
          <p:spPr>
            <a:xfrm>
              <a:off x="914400" y="4572000"/>
              <a:ext cx="1371600" cy="137160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2468880" y="4572000"/>
              <a:ext cx="1371600" cy="13716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∆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5720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Надпись без рамки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Таблица значений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 = x²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Заметка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t>Парабола растёт быстрее прямой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 rot="21120000">
            <a:off x="914400" y="914400"/>
            <a:ext cx="54864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0" y="9144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</a:rPr>
              <a:t>Белый текст на тёмном фоне, x</a:t>
            </a:r>
            <a:r>
              <a:rPr sz="3200" baseline="3000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/>
              <a:t>По центру и крупно</a:t>
            </a:r>
          </a:p>
          <a:p>
            <a:pPr algn="r"/>
            <a:r>
              <a:rPr>
                <a:latin typeface="Arial"/>
              </a:rPr>
              <a:t>Справа, Arial</a:t>
            </a:r>
          </a:p>
          <a:p>
            <a:r>
              <a:rPr u="sng">
                <a:latin typeface="Times New Roman"/>
              </a:rPr>
              <a:t>Times New Roman, подчёркнутый</a:t>
            </a:r>
          </a:p>
          <a:p>
            <a:pPr>
              <a:lnSpc>
                <a:spcPct val="150000"/>
              </a:lnSpc>
            </a:pPr>
            <a:r>
              <a:t>Межстрочный 1,5 — очень длинная строка, которая переносится на несколько строк внутри надписи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457200"/>
            <a:ext cx="4572000" cy="2743200"/>
          </a:xfrm>
          <a:prstGeom prst="rect">
            <a:avLst/>
          </a:prstGeom>
          <a:solidFill>
            <a:srgbClr val="DDEBF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>
                <a:solidFill>
                  <a:srgbClr val="000000"/>
                </a:solidFill>
              </a:rPr>
              <a:t>Прижато к низу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